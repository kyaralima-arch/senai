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-67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731520"/>
            <a:ext cx="3840480" cy="3840480"/>
          </a:xfrm>
          <a:prstGeom prst="ellipse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4297680"/>
            <a:ext cx="2926080" cy="2926080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685800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49B8E6"/>
                </a:solidFill>
                <a:latin typeface="Aptos"/>
              </a:defRPr>
            </a:pPr>
            <a:r>
              <a:t>PROJETO DE BANCO DE DADOS RELACIONAL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7772400" cy="59880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pt-BR"/>
              <a:t>PROJETO_FINAL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03320"/>
            <a:ext cx="6492240" cy="6858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900" b="0">
                <a:solidFill>
                  <a:srgbClr val="DCEBF8"/>
                </a:solidFill>
                <a:latin typeface="Aptos"/>
              </a:defRPr>
            </a:pPr>
            <a:r>
              <a:t>Organização de clientes, produtos e pedidos usando SQL</a:t>
            </a:r>
          </a:p>
        </p:txBody>
      </p:sp>
      <p:sp>
        <p:nvSpPr>
          <p:cNvPr id="9" name="Can 8"/>
          <p:cNvSpPr/>
          <p:nvPr/>
        </p:nvSpPr>
        <p:spPr>
          <a:xfrm>
            <a:off x="8412480" y="2423160"/>
            <a:ext cx="1417320" cy="713232"/>
          </a:xfrm>
          <a:prstGeom prst="can">
            <a:avLst/>
          </a:prstGeom>
          <a:solidFill>
            <a:srgbClr val="49B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n 9"/>
          <p:cNvSpPr/>
          <p:nvPr/>
        </p:nvSpPr>
        <p:spPr>
          <a:xfrm>
            <a:off x="8412480" y="2834640"/>
            <a:ext cx="1417320" cy="713232"/>
          </a:xfrm>
          <a:prstGeom prst="can">
            <a:avLst/>
          </a:prstGeom>
          <a:solidFill>
            <a:srgbClr val="49B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n 10"/>
          <p:cNvSpPr/>
          <p:nvPr/>
        </p:nvSpPr>
        <p:spPr>
          <a:xfrm>
            <a:off x="8412480" y="3246120"/>
            <a:ext cx="1417320" cy="713232"/>
          </a:xfrm>
          <a:prstGeom prst="can">
            <a:avLst/>
          </a:prstGeom>
          <a:solidFill>
            <a:srgbClr val="49B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5989320"/>
            <a:ext cx="5486400" cy="22923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5DAEE"/>
                </a:solidFill>
                <a:latin typeface="Aptos"/>
              </a:defRPr>
            </a:pPr>
            <a:r>
              <a:rPr lang="pt-BR"/>
              <a:t>aLUNOS: Kyara, Marcelo, Jean, Pablo e Amanda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1. Introdução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Por que organizar os dados de vendas?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669280" cy="10058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200" b="1">
                <a:solidFill>
                  <a:srgbClr val="0D2A4E"/>
                </a:solidFill>
                <a:latin typeface="Aptos"/>
              </a:defRPr>
            </a:pPr>
            <a:r>
              <a:t>Antes, as informações estavam espalhadas em planilhas.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6207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788920"/>
            <a:ext cx="5230368" cy="64922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Isso podia dificultar as consultas.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4787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3474720"/>
            <a:ext cx="5230368" cy="64922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Podiam surgir dados repetidos e erros nos relatórios.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3367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160520"/>
            <a:ext cx="5230368" cy="64922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A proposta foi centralizar tudo em um banco relacional.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828800"/>
            <a:ext cx="4389120" cy="114300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1828800"/>
            <a:ext cx="82296" cy="1143000"/>
          </a:xfrm>
          <a:prstGeom prst="rect">
            <a:avLst/>
          </a:prstGeom>
          <a:solidFill>
            <a:srgbClr val="EE9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1975104"/>
            <a:ext cx="40050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EE992D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59152"/>
            <a:ext cx="3977639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Planilhas separadas e informações difíceis de cruzar.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246120"/>
            <a:ext cx="4389120" cy="114300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03720" y="3246120"/>
            <a:ext cx="82296" cy="1143000"/>
          </a:xfrm>
          <a:prstGeom prst="rect">
            <a:avLst/>
          </a:prstGeom>
          <a:solidFill>
            <a:srgbClr val="23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3392424"/>
            <a:ext cx="40050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23A070"/>
                </a:solidFill>
                <a:latin typeface="Aptos"/>
              </a:defRPr>
            </a:pPr>
            <a:r>
              <a:t>DEPOIS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776472"/>
            <a:ext cx="3977639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Clientes, produtos e pedidos organizados em um só sistema.</a:t>
            </a:r>
          </a:p>
        </p:txBody>
      </p:sp>
      <p:sp>
        <p:nvSpPr>
          <p:cNvPr id="22" name="Oval 21"/>
          <p:cNvSpPr/>
          <p:nvPr/>
        </p:nvSpPr>
        <p:spPr>
          <a:xfrm>
            <a:off x="8549640" y="4800600"/>
            <a:ext cx="914400" cy="914400"/>
          </a:xfrm>
          <a:prstGeom prst="ellipse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4828032"/>
            <a:ext cx="914400" cy="8686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2. Objetivo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Representar uma situação real de uma loja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14173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82296" cy="141732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37944"/>
            <a:ext cx="299923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A70BE"/>
                </a:solidFill>
                <a:latin typeface="Aptos"/>
              </a:defRPr>
            </a:pPr>
            <a:r>
              <a:t>CADASTRAR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21992"/>
            <a:ext cx="2971800" cy="7955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Manter clientes e produtos organizados.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383280" cy="14173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82296" cy="1417320"/>
          </a:xfrm>
          <a:prstGeom prst="rect">
            <a:avLst/>
          </a:prstGeom>
          <a:solidFill>
            <a:srgbClr val="23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837944"/>
            <a:ext cx="299923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23A070"/>
                </a:solidFill>
                <a:latin typeface="Aptos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21992"/>
            <a:ext cx="2971800" cy="7955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Guardar os pedidos e as compras realizadas.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383280" cy="14173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82296" cy="1417320"/>
          </a:xfrm>
          <a:prstGeom prst="rect">
            <a:avLst/>
          </a:prstGeom>
          <a:solidFill>
            <a:srgbClr val="81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837944"/>
            <a:ext cx="299923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815EC4"/>
                </a:solidFill>
                <a:latin typeface="Aptos"/>
              </a:defRPr>
            </a:pPr>
            <a:r>
              <a:t>ANALISAR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21992"/>
            <a:ext cx="2971800" cy="7955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Consultar dados para entender as vendas.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900" b="1">
                <a:solidFill>
                  <a:srgbClr val="0D2A4E"/>
                </a:solidFill>
                <a:latin typeface="Aptos"/>
              </a:defRPr>
            </a:pPr>
            <a:r>
              <a:t>Perguntas que o banco pode responder: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32511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0432" y="4251960"/>
            <a:ext cx="9619488" cy="40233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23303F"/>
                </a:solidFill>
                <a:latin typeface="Aptos"/>
              </a:defRPr>
            </a:pPr>
            <a:r>
              <a:t>Quais clientes compraram mais?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764024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690872"/>
            <a:ext cx="9619488" cy="40233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23303F"/>
                </a:solidFill>
                <a:latin typeface="Aptos"/>
              </a:defRPr>
            </a:pPr>
            <a:r>
              <a:t>Qual produto foi mais vendido em determinado mês?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202936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5129784"/>
            <a:ext cx="9619488" cy="40233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23303F"/>
                </a:solidFill>
                <a:latin typeface="Aptos"/>
              </a:defRPr>
            </a:pPr>
            <a:r>
              <a:t>Quanto cada cliente gastou no total?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641848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5568696"/>
            <a:ext cx="9619488" cy="40233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23303F"/>
                </a:solidFill>
                <a:latin typeface="Aptos"/>
              </a:defRPr>
            </a:pPr>
            <a:r>
              <a:t>Quais pedidos passaram de R$ 500,00?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3. Tipo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Modelo relacional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577840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100" b="1">
                <a:solidFill>
                  <a:srgbClr val="0D2A4E"/>
                </a:solidFill>
                <a:latin typeface="Aptos"/>
              </a:defRPr>
            </a:pPr>
            <a:r>
              <a:t>Os dados ficam organizados em tabelas que se conectam por chaves.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7063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697480"/>
            <a:ext cx="5321807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Cada tabela representa um tipo de informação.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83280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310128"/>
            <a:ext cx="5321807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Chaves primárias identificam registros.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995928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922776"/>
            <a:ext cx="5321807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Chaves estrangeiras conectam as tabelas.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608576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535424"/>
            <a:ext cx="5321807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A estrutura ajuda a reduzir repetições.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92024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1A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0" y="1920240"/>
            <a:ext cx="2011680" cy="438912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1152" y="1993392"/>
            <a:ext cx="1865376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6032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23303F"/>
                </a:solidFill>
                <a:latin typeface="Aptos"/>
              </a:defRPr>
            </a:pPr>
            <a:r>
              <a:t>id_cliente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97180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23303F"/>
                </a:solidFill>
                <a:latin typeface="Aptos"/>
              </a:defRPr>
            </a:pPr>
            <a:r>
              <a:t>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383279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23303F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92024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E9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1920240"/>
            <a:ext cx="2011680" cy="438912"/>
          </a:xfrm>
          <a:prstGeom prst="rect">
            <a:avLst/>
          </a:prstGeom>
          <a:solidFill>
            <a:srgbClr val="EE9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54312" y="1993392"/>
            <a:ext cx="1865376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PEDIDOS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56032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23303F"/>
                </a:solidFill>
                <a:latin typeface="Aptos"/>
              </a:defRPr>
            </a:pPr>
            <a:r>
              <a:t>id_pedido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97180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23303F"/>
                </a:solidFill>
                <a:latin typeface="Aptos"/>
              </a:defRPr>
            </a:pPr>
            <a:r>
              <a:t>id_cliente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383279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23303F"/>
                </a:solidFill>
                <a:latin typeface="Aptos"/>
              </a:defRPr>
            </a:pPr>
            <a:r>
              <a:t>id_produto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69680" y="2926080"/>
            <a:ext cx="411480" cy="0"/>
          </a:xfrm>
          <a:prstGeom prst="line">
            <a:avLst/>
          </a:prstGeom>
          <a:ln w="2540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4. Estrutura geral do banco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Três tabelas principais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30175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82296" cy="301752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37944"/>
            <a:ext cx="304495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A70BE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21992"/>
            <a:ext cx="3017520" cy="239572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id_cliente (PK)</a:t>
            </a:r>
            <a:br/>
            <a:r>
              <a:t>Nome</a:t>
            </a:r>
            <a:br/>
            <a:r>
              <a:t>E-mail</a:t>
            </a:r>
            <a:br/>
            <a:r>
              <a:t>Telefone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30175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82296" cy="3017520"/>
          </a:xfrm>
          <a:prstGeom prst="rect">
            <a:avLst/>
          </a:prstGeom>
          <a:solidFill>
            <a:srgbClr val="23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837944"/>
            <a:ext cx="304495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23A070"/>
                </a:solidFill>
                <a:latin typeface="Aptos"/>
              </a:defRPr>
            </a:pPr>
            <a:r>
              <a:t>PRODUTOS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3017520" cy="239572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id_produto (PK)</a:t>
            </a:r>
            <a:br/>
            <a:r>
              <a:t>Nome e descrição</a:t>
            </a:r>
            <a:br/>
            <a:r>
              <a:t>Preço</a:t>
            </a:r>
            <a:br/>
            <a:r>
              <a:t>Estoque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30175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82296" cy="3017520"/>
          </a:xfrm>
          <a:prstGeom prst="rect">
            <a:avLst/>
          </a:prstGeom>
          <a:solidFill>
            <a:srgbClr val="EE9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837944"/>
            <a:ext cx="304495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EE992D"/>
                </a:solidFill>
                <a:latin typeface="Aptos"/>
              </a:defRPr>
            </a:pPr>
            <a:r>
              <a:t>PEDIDOS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21992"/>
            <a:ext cx="3017520" cy="239572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id_pedido (PK)</a:t>
            </a:r>
            <a:br/>
            <a:r>
              <a:t>id_cliente (FK)</a:t>
            </a:r>
            <a:br/>
            <a:r>
              <a:t>id_produto (FK)</a:t>
            </a:r>
            <a:br/>
            <a:r>
              <a:t>Quantidade 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700" b="1">
                <a:solidFill>
                  <a:srgbClr val="0D2A4E"/>
                </a:solidFill>
                <a:latin typeface="Aptos"/>
              </a:defRPr>
            </a:pPr>
            <a:r>
              <a:t>PK = chave primária  •  FK = chave estrangeira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5.1 Tabela clientes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Quem realiza as compras?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1143000" cy="1143000"/>
          </a:xfrm>
          <a:prstGeom prst="ellipse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56231"/>
            <a:ext cx="1143000" cy="10972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828800"/>
            <a:ext cx="813816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100" b="1">
                <a:solidFill>
                  <a:srgbClr val="0D2A4E"/>
                </a:solidFill>
                <a:latin typeface="Aptos"/>
              </a:defRPr>
            </a:pPr>
            <a:r>
              <a:t>Armazena os dados básicos de cada cliente.</a:t>
            </a:r>
          </a:p>
        </p:txBody>
      </p:sp>
      <p:sp>
        <p:nvSpPr>
          <p:cNvPr id="10" name="Oval 9"/>
          <p:cNvSpPr/>
          <p:nvPr/>
        </p:nvSpPr>
        <p:spPr>
          <a:xfrm>
            <a:off x="2468880" y="272491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2651760"/>
            <a:ext cx="779068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id_cliente: código único (chave primária).</a:t>
            </a:r>
          </a:p>
        </p:txBody>
      </p:sp>
      <p:sp>
        <p:nvSpPr>
          <p:cNvPr id="12" name="Oval 11"/>
          <p:cNvSpPr/>
          <p:nvPr/>
        </p:nvSpPr>
        <p:spPr>
          <a:xfrm>
            <a:off x="2468880" y="3337560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24912" y="3264408"/>
            <a:ext cx="779068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nome: nome do cliente.</a:t>
            </a:r>
          </a:p>
        </p:txBody>
      </p:sp>
      <p:sp>
        <p:nvSpPr>
          <p:cNvPr id="14" name="Oval 13"/>
          <p:cNvSpPr/>
          <p:nvPr/>
        </p:nvSpPr>
        <p:spPr>
          <a:xfrm>
            <a:off x="2468880" y="3950208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24912" y="3877056"/>
            <a:ext cx="779068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email: endereço de e-mail.</a:t>
            </a:r>
          </a:p>
        </p:txBody>
      </p:sp>
      <p:sp>
        <p:nvSpPr>
          <p:cNvPr id="16" name="Oval 15"/>
          <p:cNvSpPr/>
          <p:nvPr/>
        </p:nvSpPr>
        <p:spPr>
          <a:xfrm>
            <a:off x="2468880" y="4562856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24912" y="4489704"/>
            <a:ext cx="779068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telefone: contato.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66360"/>
            <a:ext cx="10241280" cy="68580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5166360"/>
            <a:ext cx="82296" cy="68580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5312664"/>
            <a:ext cx="985723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A70BE"/>
                </a:solidFill>
                <a:latin typeface="Aptos"/>
              </a:defRPr>
            </a:pPr>
            <a:r>
              <a:t>PARA QUE SERVE?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696712"/>
            <a:ext cx="9829800" cy="640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Permite consultar os clientes cadastrados e relacioná-los aos pedidos.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5.2 Tabela produtos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O que a loja vende?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1234440" cy="1051560"/>
          </a:xfrm>
          <a:prstGeom prst="rect">
            <a:avLst/>
          </a:prstGeom>
          <a:solidFill>
            <a:srgbClr val="EE9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2011680"/>
            <a:ext cx="960120" cy="320040"/>
          </a:xfrm>
          <a:prstGeom prst="rect">
            <a:avLst/>
          </a:prstGeom>
          <a:solidFill>
            <a:srgbClr val="EE9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874519"/>
            <a:ext cx="77724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100" b="1">
                <a:solidFill>
                  <a:srgbClr val="0D2A4E"/>
                </a:solidFill>
                <a:latin typeface="Aptos"/>
              </a:defRPr>
            </a:pPr>
            <a:r>
              <a:t>Guarda informações dos produtos disponíveis para venda.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267919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2606040"/>
            <a:ext cx="760780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id_produto: código único do produto.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327355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3200400"/>
            <a:ext cx="760780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nome e descrição: identificam e explicam o item.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386791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3794760"/>
            <a:ext cx="760780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preço: valor de venda.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446227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9232" y="4389120"/>
            <a:ext cx="760780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23303F"/>
                </a:solidFill>
                <a:latin typeface="Aptos"/>
              </a:defRPr>
            </a:pPr>
            <a:r>
              <a:t>estoque: quantidade disponível.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10241280" cy="77724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5074920"/>
            <a:ext cx="82296" cy="777240"/>
          </a:xfrm>
          <a:prstGeom prst="rect">
            <a:avLst/>
          </a:prstGeom>
          <a:solidFill>
            <a:srgbClr val="23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5221224"/>
            <a:ext cx="985723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23A070"/>
                </a:solidFill>
                <a:latin typeface="Aptos"/>
              </a:defRPr>
            </a:pPr>
            <a:r>
              <a:t>IMPORTÂNCIA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605272"/>
            <a:ext cx="9829800" cy="15544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Ajuda a controlar o catálogo, os preços e a quantidade disponível.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5.3 Tabela pedidos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Registro das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4754880" cy="338328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82296" cy="3383280"/>
          </a:xfrm>
          <a:prstGeom prst="rect">
            <a:avLst/>
          </a:prstGeom>
          <a:solidFill>
            <a:srgbClr val="EE9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83664"/>
            <a:ext cx="437083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EE992D"/>
                </a:solidFill>
                <a:latin typeface="Aptos"/>
              </a:defRPr>
            </a:pPr>
            <a:r>
              <a:t>CAMPOS DO PEDIDO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343400" cy="2761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id_pedido — identifica a compra</a:t>
            </a:r>
            <a:br/>
            <a:r>
              <a:t>id_cliente — quem comprou</a:t>
            </a:r>
            <a:br/>
            <a:r>
              <a:t>id_produto — produto comprado</a:t>
            </a:r>
            <a:br/>
            <a:r>
              <a:t>quantidade — unidades compradas</a:t>
            </a:r>
            <a:br/>
            <a:r>
              <a:t>data_pedido — quando aconteceu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475488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100" b="1">
                <a:solidFill>
                  <a:srgbClr val="0D2A4E"/>
                </a:solidFill>
                <a:latin typeface="Aptos"/>
              </a:defRPr>
            </a:pPr>
            <a:r>
              <a:t>O pedido conecta as outras tabelas.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71800"/>
            <a:ext cx="1417320" cy="777240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200400"/>
            <a:ext cx="1325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971800"/>
            <a:ext cx="1417320" cy="777240"/>
          </a:xfrm>
          <a:prstGeom prst="roundRect">
            <a:avLst/>
          </a:prstGeom>
          <a:solidFill>
            <a:srgbClr val="EE9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3200400"/>
            <a:ext cx="1325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PEDIDO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971800"/>
            <a:ext cx="1417320" cy="777240"/>
          </a:xfrm>
          <a:prstGeom prst="roundRect">
            <a:avLst/>
          </a:prstGeom>
          <a:solidFill>
            <a:srgbClr val="23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78440" y="3200400"/>
            <a:ext cx="1325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PRODUTO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26679" y="3364992"/>
            <a:ext cx="594361" cy="0"/>
          </a:xfrm>
          <a:prstGeom prst="line">
            <a:avLst/>
          </a:prstGeom>
          <a:ln w="2540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38360" y="3364992"/>
            <a:ext cx="594360" cy="0"/>
          </a:xfrm>
          <a:prstGeom prst="line">
            <a:avLst/>
          </a:prstGeom>
          <a:ln w="2540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4343400"/>
            <a:ext cx="5029200" cy="7315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Assim, é possível saber quem comprou, qual item, em que quantidade e em qual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6. Consultas SQL e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Transformar registros em informações úteis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66360" cy="14173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82296" cy="141732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92224"/>
            <a:ext cx="478231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A70BE"/>
                </a:solidFill>
                <a:latin typeface="Aptos"/>
              </a:defRPr>
            </a:pPr>
            <a:r>
              <a:t>CLIENTES COM MAIS COMPRAS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76272"/>
            <a:ext cx="4754880" cy="7955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COUNT conta os pedidos e permite ordenar do maior para o menor.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166360" cy="14173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82296" cy="1417320"/>
          </a:xfrm>
          <a:prstGeom prst="rect">
            <a:avLst/>
          </a:prstGeom>
          <a:solidFill>
            <a:srgbClr val="23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92224"/>
            <a:ext cx="478231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23A070"/>
                </a:solidFill>
                <a:latin typeface="Aptos"/>
              </a:defRPr>
            </a:pPr>
            <a:r>
              <a:t>PRODUTO MAIS VENDIDO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76272"/>
            <a:ext cx="4754880" cy="7955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Soma as quantidades por produto, com filtro de mês e ano.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5166360" cy="14173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82296" cy="1417320"/>
          </a:xfrm>
          <a:prstGeom prst="rect">
            <a:avLst/>
          </a:prstGeom>
          <a:solidFill>
            <a:srgbClr val="81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575304"/>
            <a:ext cx="478231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815EC4"/>
                </a:solidFill>
                <a:latin typeface="Aptos"/>
              </a:defRPr>
            </a:pPr>
            <a:r>
              <a:t>TOTAL POR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59352"/>
            <a:ext cx="4754880" cy="7955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Quantidade × preço; depois, agrupa os valores por cliente.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429000"/>
            <a:ext cx="5166360" cy="14173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429000"/>
            <a:ext cx="82296" cy="1417320"/>
          </a:xfrm>
          <a:prstGeom prst="rect">
            <a:avLst/>
          </a:prstGeom>
          <a:solidFill>
            <a:srgbClr val="EE9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575304"/>
            <a:ext cx="478231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EE992D"/>
                </a:solidFill>
                <a:latin typeface="Aptos"/>
              </a:defRPr>
            </a:pPr>
            <a:r>
              <a:t>PEDIDOS ACIMA DE R$ 500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59352"/>
            <a:ext cx="4754880" cy="7955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Filtra compras que ultrapassam o valor definido.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600" b="1">
                <a:solidFill>
                  <a:srgbClr val="0D2A4E"/>
                </a:solidFill>
                <a:latin typeface="Aptos"/>
              </a:defRPr>
            </a:pPr>
            <a:r>
              <a:t>Comandos citados no projeto: SELECT • JOIN • GROUP BY • ORDER BY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7. Normalização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Organizar para reduzir repetições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937760" cy="8229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200" b="1">
                <a:solidFill>
                  <a:srgbClr val="0D2A4E"/>
                </a:solidFill>
                <a:latin typeface="Aptos"/>
              </a:defRPr>
            </a:pPr>
            <a:r>
              <a:t>Cada tipo de informação fica na tabela certa.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81635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2743200"/>
            <a:ext cx="468172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Clientes ficam em clientes.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41071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3337560"/>
            <a:ext cx="468172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Produtos ficam em produtos.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00507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3931920"/>
            <a:ext cx="468172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Compras ficam em pedidos.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59943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" y="4526280"/>
            <a:ext cx="4681728" cy="5577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23303F"/>
                </a:solidFill>
                <a:latin typeface="Aptos"/>
              </a:defRPr>
            </a:pPr>
            <a:r>
              <a:t>O id_cliente liga o pedido ao cliente.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011680" cy="23317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82296" cy="2331720"/>
          </a:xfrm>
          <a:prstGeom prst="rect">
            <a:avLst/>
          </a:prstGeom>
          <a:solidFill>
            <a:srgbClr val="EE9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975104"/>
            <a:ext cx="162763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EE992D"/>
                </a:solidFill>
                <a:latin typeface="Aptos"/>
              </a:defRPr>
            </a:pPr>
            <a:r>
              <a:t>SEM ORGANIZAÇÃO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59152"/>
            <a:ext cx="1600200" cy="170992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Nome e contato do cliente repetidos em vários registros.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51760"/>
            <a:ext cx="64008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2800" b="1">
                <a:solidFill>
                  <a:srgbClr val="1A7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828800"/>
            <a:ext cx="2057400" cy="233172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1828800"/>
            <a:ext cx="82296" cy="2331720"/>
          </a:xfrm>
          <a:prstGeom prst="rect">
            <a:avLst/>
          </a:prstGeom>
          <a:solidFill>
            <a:srgbClr val="23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1975104"/>
            <a:ext cx="167335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23A070"/>
                </a:solidFill>
                <a:latin typeface="Aptos"/>
              </a:defRPr>
            </a:pPr>
            <a:r>
              <a:t>ORGANIZADO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359152"/>
            <a:ext cx="1645920" cy="170992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O pedido guarda o código do cliente e aponta para o cadastro.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4572000" cy="5943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0">
                <a:solidFill>
                  <a:srgbClr val="5B6C7E"/>
                </a:solidFill>
                <a:latin typeface="Aptos"/>
              </a:defRPr>
            </a:pPr>
            <a:r>
              <a:t>Resultado: manutenção mais simples e menos duplicação.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0D2A4E"/>
                </a:solidFill>
                <a:latin typeface="Aptos"/>
              </a:defRPr>
            </a:pPr>
            <a:r>
              <a:t>8. Recursos extras: procedures, views e triggers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60120"/>
            <a:ext cx="1005840" cy="50292"/>
          </a:xfrm>
          <a:prstGeom prst="rect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5B6C7E"/>
                </a:solidFill>
                <a:latin typeface="Aptos"/>
              </a:defRPr>
            </a:pPr>
            <a:r>
              <a:t>Ferramentas para reutilizar consultas e automatizar 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5B6C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520440" cy="352044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82296" cy="352044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313639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A70BE"/>
                </a:solidFill>
                <a:latin typeface="Aptos"/>
              </a:defRPr>
            </a:pPr>
            <a:r>
              <a:t>PROCEDURES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108960" cy="28986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Conjunto de comandos SQL salvo no banco.</a:t>
            </a:r>
            <a:br/>
            <a:r>
              <a:t/>
            </a:r>
            <a:br/>
            <a:r>
              <a:t>Exemplo: cadastrar um pedido recebendo cliente, produto e quantidade.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352044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82296" cy="3520440"/>
          </a:xfrm>
          <a:prstGeom prst="rect">
            <a:avLst/>
          </a:prstGeom>
          <a:solidFill>
            <a:srgbClr val="81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46504"/>
            <a:ext cx="313639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815EC4"/>
                </a:solidFill>
                <a:latin typeface="Aptos"/>
              </a:defRPr>
            </a:pPr>
            <a:r>
              <a:t>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30552"/>
            <a:ext cx="3108960" cy="28986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Consulta salva que pode juntar clientes, pedidos e produtos.</a:t>
            </a:r>
            <a:br/>
            <a:r>
              <a:t/>
            </a:r>
            <a:br/>
            <a:r>
              <a:t>Pode mostrar nome, produto, quantidade, preço, data e total.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00200"/>
            <a:ext cx="3520440" cy="3520440"/>
          </a:xfrm>
          <a:prstGeom prst="roundRect">
            <a:avLst/>
          </a:prstGeom>
          <a:solidFill>
            <a:srgbClr val="EBF5FD"/>
          </a:solidFill>
          <a:ln>
            <a:solidFill>
              <a:srgbClr val="D5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00200"/>
            <a:ext cx="82296" cy="352044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46504"/>
            <a:ext cx="313639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DA4F4F"/>
                </a:solidFill>
                <a:latin typeface="Aptos"/>
              </a:defRPr>
            </a:pPr>
            <a:r>
              <a:t>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30552"/>
            <a:ext cx="3108960" cy="28986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23303F"/>
                </a:solidFill>
                <a:latin typeface="Aptos"/>
              </a:defRPr>
            </a:pPr>
            <a:r>
              <a:t>Ação automática após eventos como INSERT, UPDATE ou DELETE.</a:t>
            </a:r>
            <a:br/>
            <a:r>
              <a:t/>
            </a:r>
            <a:br/>
            <a:r>
              <a:t>Exemplo: diminuir o estoque após uma venda.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77840"/>
            <a:ext cx="1042416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600" b="1">
                <a:solidFill>
                  <a:srgbClr val="0D2A4E"/>
                </a:solidFill>
                <a:latin typeface="Aptos"/>
              </a:defRPr>
            </a:pPr>
            <a:r>
              <a:t>Exemplo de trigger: estoque 10 − venda de 3 unidades = estoque 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07040" cy="5943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583680" cy="1371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500" b="1">
                <a:solidFill>
                  <a:srgbClr val="DAEFFC"/>
                </a:solidFill>
                <a:latin typeface="Aptos"/>
              </a:defRPr>
            </a:pPr>
            <a:r>
              <a:t>Um banco bem organizado transforma dados em informação para decidir melhor.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3227832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3154680"/>
            <a:ext cx="651052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Tabelas e chaves conectam clientes, produtos e pedidos.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840480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3767328"/>
            <a:ext cx="651052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Consultas SQL ajudam a analisar as vendas.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453128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4379976"/>
            <a:ext cx="651052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Procedures, views e triggers tornam o sistema mais prático.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065776"/>
            <a:ext cx="146304" cy="146304"/>
          </a:xfrm>
          <a:prstGeom prst="ellipse">
            <a:avLst/>
          </a:prstGeom>
          <a:solidFill>
            <a:srgbClr val="49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992624"/>
            <a:ext cx="6510528" cy="5760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A estrutura pode servir de base para um sistema maior.</a:t>
            </a:r>
          </a:p>
        </p:txBody>
      </p:sp>
      <p:sp>
        <p:nvSpPr>
          <p:cNvPr id="13" name="Can 12"/>
          <p:cNvSpPr/>
          <p:nvPr/>
        </p:nvSpPr>
        <p:spPr>
          <a:xfrm>
            <a:off x="8549640" y="2377440"/>
            <a:ext cx="1371600" cy="658368"/>
          </a:xfrm>
          <a:prstGeom prst="can">
            <a:avLst/>
          </a:prstGeom>
          <a:solidFill>
            <a:srgbClr val="49B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n 13"/>
          <p:cNvSpPr/>
          <p:nvPr/>
        </p:nvSpPr>
        <p:spPr>
          <a:xfrm>
            <a:off x="8549640" y="2788920"/>
            <a:ext cx="1371600" cy="658368"/>
          </a:xfrm>
          <a:prstGeom prst="can">
            <a:avLst/>
          </a:prstGeom>
          <a:solidFill>
            <a:srgbClr val="49B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 14"/>
          <p:cNvSpPr/>
          <p:nvPr/>
        </p:nvSpPr>
        <p:spPr>
          <a:xfrm>
            <a:off x="8549640" y="3200400"/>
            <a:ext cx="1371600" cy="658368"/>
          </a:xfrm>
          <a:prstGeom prst="can">
            <a:avLst/>
          </a:prstGeom>
          <a:solidFill>
            <a:srgbClr val="49B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0">
                <a:solidFill>
                  <a:srgbClr val="B9D5ED"/>
                </a:solidFill>
                <a:latin typeface="Aptos"/>
              </a:defRPr>
            </a:pPr>
            <a:r>
              <a:t>Banco de Dados de Vendas • Projeto relacional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710</Words>
  <Application>WPS Presentation</Application>
  <PresentationFormat>Personalizar</PresentationFormat>
  <Paragraphs>130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dc:description>generated using python-pptx</dc:description>
  <cp:lastModifiedBy>aluno</cp:lastModifiedBy>
  <cp:revision>4</cp:revision>
  <dcterms:created xsi:type="dcterms:W3CDTF">2013-01-27T09:14:00Z</dcterms:created>
  <dcterms:modified xsi:type="dcterms:W3CDTF">2026-10-15T19:51:52Z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5F00188AB5C142E09CD76EAA006AF964_13</vt:lpwstr>
  </property>
  <property fmtid="{D5CDD505-2E9C-101B-9397-08002B2CF9AE}" pid="3" name="KSOProductBuildVer">
    <vt:lpwstr>1046-12.1.0.28485</vt:lpwstr>
  </property>
</Properties>
</file>